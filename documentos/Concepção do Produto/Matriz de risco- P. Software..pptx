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60"/>
    <p:restoredTop sz="94653"/>
  </p:normalViewPr>
  <p:slideViewPr>
    <p:cSldViewPr snapToGrid="0">
      <p:cViewPr varScale="1">
        <p:scale>
          <a:sx n="113" d="100"/>
          <a:sy n="113" d="100"/>
        </p:scale>
        <p:origin x="10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7DCFDB-EC26-9641-BC52-DEA6AE25CF22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D2F730-7178-DF42-9C71-DCA922097EF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1889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7FBA5D-B5D3-8BDE-7248-F8D04FE332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4027B70-2289-9B84-26AB-A038140B79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9BCB99B-19C7-6F11-F65A-7C1D90625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BE2D1-51A1-8F47-A26A-3A7F960BAEE4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C4842D1-14AA-1839-2C2B-7AFBF0F16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47B8758-C70A-0CBA-1538-194DE04FF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2CFBB-3217-304D-B519-54563334DA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2849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77D90C-D369-E722-5D40-270A5A9F1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E62660A-D2B8-B455-DB5E-508D3D9424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B44CB07-88F8-760A-3DF8-D2116F355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BE2D1-51A1-8F47-A26A-3A7F960BAEE4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A37D717-8015-37C9-9678-11294BD0E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8DA5C4C-B801-A702-D6CD-6B0018E4A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2CFBB-3217-304D-B519-54563334DA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6133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29F5AC-80E0-92EF-12F4-412B608C6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51DE59F-4582-7117-7DCE-A4D50AD0E0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C336712-310D-BF5F-3064-AE727F907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BE2D1-51A1-8F47-A26A-3A7F960BAEE4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6816232-D29A-B783-0E41-65CA80612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850DA44-EDD4-8480-66FB-2835BA92A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2CFBB-3217-304D-B519-54563334DA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9426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E3E34C-D5C5-05FF-2C2C-F070FCEFF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C53D996-7F71-779D-1F90-E91F3DCBCC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339CEB7-A2A5-3D75-4C75-B47C2BB9F2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D16233B-0609-2C58-9E5B-46AB934D2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BE2D1-51A1-8F47-A26A-3A7F960BAEE4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B9D3B80-7E22-69C4-52B9-05682F6C5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9333EB2-96FD-2790-D87E-8262608AF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2CFBB-3217-304D-B519-54563334DA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265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694B76-B4E6-3495-C848-E280B4DD3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85C1DE5-CBD0-6441-C3C3-18B953F574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D489753-09E7-96DE-A8CD-95C5C18141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263D826-9C1D-4CA1-9E19-2E915DD18E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9DF12F3-3E03-452C-804E-22F99396D2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C8450A3-7331-51D2-0218-AC467ADA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BE2D1-51A1-8F47-A26A-3A7F960BAEE4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69D6E46-CF00-1475-6E9F-06D7566B2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E72AB5D-50D4-558C-9974-6CE857238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2CFBB-3217-304D-B519-54563334DA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9655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5A3F2D-C2DF-F0E0-E8F4-85488F4CE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624330B-A97A-1BDA-6C9F-7F767BED4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BE2D1-51A1-8F47-A26A-3A7F960BAEE4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7C5F27B-56EA-143E-EBB7-EC5630A82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99ACF91-CF83-363B-6401-6D18AFAC3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2CFBB-3217-304D-B519-54563334DA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6799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DDA2DAB-FD0E-80E9-44E1-44F28CBC5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BE2D1-51A1-8F47-A26A-3A7F960BAEE4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479153B-D702-8581-C368-AE9F47B21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670C78E-79A8-86DF-E5FA-2A0D72274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2CFBB-3217-304D-B519-54563334DA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690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B631A1-6DBC-A1EE-BDBD-93C891321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1068030-5A76-428A-DE22-297AE0AC5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BF9DD21-0021-BC6F-8F6A-089E855F93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5F1603D-054C-0DC1-B2FC-C930E9D71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BE2D1-51A1-8F47-A26A-3A7F960BAEE4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D03746A-C65C-B7AB-CE4D-22124C658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609CF8D-726F-FD3E-5045-5A9612B60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2CFBB-3217-304D-B519-54563334DA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71703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9BC685-96F4-B957-8075-4DF9E6334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ECF150A-77A0-58C1-57BD-B2FFA9222F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357B4E5-0EC1-8BC8-32C7-773FA34D92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9ED542F-E7CE-CC91-A448-1FD10DC3C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BE2D1-51A1-8F47-A26A-3A7F960BAEE4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011480C-B5D3-BE7E-EACD-92A8E1413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49093AB-501B-E747-156E-DE9057A9E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2CFBB-3217-304D-B519-54563334DA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1099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5EC33E-8293-A779-B573-DD80C57D2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F200BA1-CADC-25C6-4FCB-BF52444FAB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0B91795-9DD6-1151-1627-1D04CFFF1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BE2D1-51A1-8F47-A26A-3A7F960BAEE4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9342ECF-B615-E268-CA2D-6F7E7048E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2F62E8-A81B-0DC5-9B1B-D240C0500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2CFBB-3217-304D-B519-54563334DA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0245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AF660EF-0755-5F21-D30B-04EC3CD773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78B5C64-60F5-EC91-55EB-2AAD32007F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0AD9B78-9388-671D-AA83-0F0F37158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BE2D1-51A1-8F47-A26A-3A7F960BAEE4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62D3B35-8069-A821-D933-859D9B778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627298E-A047-569A-CDA7-BDFE9408A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2CFBB-3217-304D-B519-54563334DA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72556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7403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F0D23A5-581D-0D16-C0F8-E4A949AC8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5B6197C-ACF3-65C6-10E0-E7CB3D237D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8402074-1059-B57B-3023-3E9C7FEC3B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6BE2D1-51A1-8F47-A26A-3A7F960BAEE4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DF24F5-EBB0-B737-A128-49113FB21B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EF5DF1F-470C-6064-2941-CE9F5D7401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62CFBB-3217-304D-B519-54563334DA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5242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90144" y="140208"/>
            <a:ext cx="670560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i="1" dirty="0">
                <a:solidFill>
                  <a:srgbClr val="2C1E0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Matriz de Risco</a:t>
            </a:r>
            <a:endParaRPr lang="en-US" sz="34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390144" y="755904"/>
            <a:ext cx="811245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8C7A5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Plataforma de </a:t>
            </a:r>
            <a:r>
              <a:rPr lang="en-US" sz="1333" dirty="0" err="1">
                <a:solidFill>
                  <a:srgbClr val="8C7A5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Educação</a:t>
            </a:r>
            <a:r>
              <a:rPr lang="en-US" sz="1333" dirty="0">
                <a:solidFill>
                  <a:srgbClr val="8C7A5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- </a:t>
            </a:r>
            <a:r>
              <a:rPr lang="en-US" sz="1333" dirty="0" err="1">
                <a:solidFill>
                  <a:srgbClr val="8C7A5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Projeto</a:t>
            </a:r>
            <a:r>
              <a:rPr lang="en-US" sz="1333" dirty="0">
                <a:solidFill>
                  <a:srgbClr val="8C7A5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de Software | Todos </a:t>
            </a:r>
            <a:r>
              <a:rPr lang="en-US" sz="1333" dirty="0" err="1">
                <a:solidFill>
                  <a:srgbClr val="8C7A5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os</a:t>
            </a:r>
            <a:r>
              <a:rPr lang="en-US" sz="1333" dirty="0">
                <a:solidFill>
                  <a:srgbClr val="8C7A5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333" dirty="0" err="1">
                <a:solidFill>
                  <a:srgbClr val="8C7A5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riscos</a:t>
            </a:r>
            <a:r>
              <a:rPr lang="en-US" sz="1333" dirty="0">
                <a:solidFill>
                  <a:srgbClr val="8C7A5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333" dirty="0" err="1">
                <a:solidFill>
                  <a:srgbClr val="8C7A5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foram</a:t>
            </a:r>
            <a:r>
              <a:rPr lang="en-US" sz="1333" dirty="0">
                <a:solidFill>
                  <a:srgbClr val="8C7A5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333" dirty="0" err="1">
                <a:solidFill>
                  <a:srgbClr val="8C7A5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explicados</a:t>
            </a:r>
            <a:r>
              <a:rPr lang="en-US" sz="1333" dirty="0">
                <a:solidFill>
                  <a:srgbClr val="8C7A5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no docs de </a:t>
            </a:r>
            <a:r>
              <a:rPr lang="en-US" sz="1333" dirty="0" err="1">
                <a:solidFill>
                  <a:srgbClr val="8C7A5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escopo</a:t>
            </a:r>
            <a:r>
              <a:rPr lang="en-US" sz="1333" dirty="0">
                <a:solidFill>
                  <a:srgbClr val="8C7A5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do </a:t>
            </a:r>
            <a:r>
              <a:rPr lang="en-US" sz="1333" dirty="0" err="1">
                <a:solidFill>
                  <a:srgbClr val="8C7A5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projeto</a:t>
            </a:r>
            <a:r>
              <a:rPr lang="en-US" sz="1333" dirty="0">
                <a:solidFill>
                  <a:srgbClr val="8C7A5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. </a:t>
            </a:r>
            <a:endParaRPr lang="en-US" sz="13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280160" y="1133856"/>
            <a:ext cx="5559552" cy="4754880"/>
          </a:xfrm>
          <a:prstGeom prst="rect">
            <a:avLst/>
          </a:prstGeom>
          <a:solidFill>
            <a:schemeClr val="bg1"/>
          </a:solidFill>
          <a:ln w="10160">
            <a:solidFill>
              <a:srgbClr val="C8B89A"/>
            </a:solidFill>
            <a:prstDash val="solid"/>
          </a:ln>
        </p:spPr>
        <p:txBody>
          <a:bodyPr/>
          <a:lstStyle/>
          <a:p>
            <a:endParaRPr lang="pt-BR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127248" y="1133856"/>
            <a:ext cx="12192" cy="4754880"/>
          </a:xfrm>
          <a:prstGeom prst="rect">
            <a:avLst/>
          </a:prstGeom>
          <a:solidFill>
            <a:srgbClr val="C8B89A"/>
          </a:solidFill>
          <a:ln w="12700">
            <a:solidFill>
              <a:srgbClr val="C8B89A"/>
            </a:solidFill>
            <a:prstDash val="solid"/>
          </a:ln>
        </p:spPr>
        <p:txBody>
          <a:bodyPr/>
          <a:lstStyle/>
          <a:p>
            <a:endParaRPr lang="pt-BR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980432" y="1133856"/>
            <a:ext cx="12192" cy="4754880"/>
          </a:xfrm>
          <a:prstGeom prst="rect">
            <a:avLst/>
          </a:prstGeom>
          <a:solidFill>
            <a:srgbClr val="C8B89A"/>
          </a:solidFill>
          <a:ln w="12700">
            <a:solidFill>
              <a:srgbClr val="C8B89A"/>
            </a:solidFill>
            <a:prstDash val="solid"/>
          </a:ln>
        </p:spPr>
        <p:txBody>
          <a:bodyPr/>
          <a:lstStyle/>
          <a:p>
            <a:endParaRPr lang="pt-BR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280159" y="2676145"/>
            <a:ext cx="5558400" cy="9600"/>
          </a:xfrm>
          <a:prstGeom prst="rect">
            <a:avLst/>
          </a:prstGeom>
          <a:solidFill>
            <a:srgbClr val="C8B89A"/>
          </a:solidFill>
          <a:ln w="12700">
            <a:solidFill>
              <a:srgbClr val="C8B89A"/>
            </a:solidFill>
            <a:prstDash val="solid"/>
          </a:ln>
        </p:spPr>
        <p:txBody>
          <a:bodyPr/>
          <a:lstStyle/>
          <a:p>
            <a:endParaRPr lang="pt-BR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280160" y="4297680"/>
            <a:ext cx="5559552" cy="12192"/>
          </a:xfrm>
          <a:prstGeom prst="rect">
            <a:avLst/>
          </a:prstGeom>
          <a:solidFill>
            <a:srgbClr val="C8B89A"/>
          </a:solidFill>
          <a:ln w="12700">
            <a:solidFill>
              <a:srgbClr val="C8B89A"/>
            </a:solidFill>
            <a:prstDash val="solid"/>
          </a:ln>
        </p:spPr>
        <p:txBody>
          <a:bodyPr/>
          <a:lstStyle/>
          <a:p>
            <a:endParaRPr lang="pt-BR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 txBox="1"/>
          <p:nvPr/>
        </p:nvSpPr>
        <p:spPr>
          <a:xfrm rot="16200000">
            <a:off x="-234696" y="3130296"/>
            <a:ext cx="2188464" cy="597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i="1" dirty="0">
                <a:solidFill>
                  <a:srgbClr val="2C1E0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Impacto →</a:t>
            </a:r>
            <a:endParaRPr lang="en-US" sz="14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280160" y="6035040"/>
            <a:ext cx="5559552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i="1" dirty="0">
                <a:solidFill>
                  <a:srgbClr val="2C1E0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Probabilidade →</a:t>
            </a:r>
            <a:endParaRPr lang="en-US" sz="14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291327" y="1511808"/>
            <a:ext cx="630063" cy="694944"/>
          </a:xfrm>
          <a:prstGeom prst="roundRect">
            <a:avLst>
              <a:gd name="adj" fmla="val 26087"/>
            </a:avLst>
          </a:prstGeom>
          <a:solidFill>
            <a:srgbClr val="7C6545"/>
          </a:solidFill>
          <a:ln w="12700">
            <a:solidFill>
              <a:srgbClr val="7C6545"/>
            </a:solidFill>
            <a:prstDash val="solid"/>
          </a:ln>
        </p:spPr>
        <p:txBody>
          <a:bodyPr/>
          <a:lstStyle/>
          <a:p>
            <a:endParaRPr lang="pt-BR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5291327" y="1511808"/>
            <a:ext cx="63006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67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R1</a:t>
            </a:r>
            <a:endParaRPr lang="en-US" sz="12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974079" y="1511808"/>
            <a:ext cx="630063" cy="694944"/>
          </a:xfrm>
          <a:prstGeom prst="roundRect">
            <a:avLst>
              <a:gd name="adj" fmla="val 26087"/>
            </a:avLst>
          </a:prstGeom>
          <a:solidFill>
            <a:srgbClr val="7C6545"/>
          </a:solidFill>
          <a:ln w="12700">
            <a:solidFill>
              <a:srgbClr val="7C6545"/>
            </a:solidFill>
            <a:prstDash val="solid"/>
          </a:ln>
        </p:spPr>
        <p:txBody>
          <a:bodyPr/>
          <a:lstStyle/>
          <a:p>
            <a:endParaRPr lang="pt-BR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5974079" y="1511808"/>
            <a:ext cx="63006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67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R4</a:t>
            </a:r>
            <a:endParaRPr lang="en-US" sz="12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438143" y="1511808"/>
            <a:ext cx="630063" cy="694944"/>
          </a:xfrm>
          <a:prstGeom prst="roundRect">
            <a:avLst>
              <a:gd name="adj" fmla="val 26087"/>
            </a:avLst>
          </a:prstGeom>
          <a:solidFill>
            <a:srgbClr val="7C6545"/>
          </a:solidFill>
          <a:ln w="12700">
            <a:solidFill>
              <a:srgbClr val="7C6545"/>
            </a:solidFill>
            <a:prstDash val="solid"/>
          </a:ln>
        </p:spPr>
        <p:txBody>
          <a:bodyPr/>
          <a:lstStyle/>
          <a:p>
            <a:endParaRPr lang="pt-BR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3438143" y="1511808"/>
            <a:ext cx="63006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67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R3</a:t>
            </a:r>
            <a:endParaRPr lang="en-US" sz="12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120895" y="1511808"/>
            <a:ext cx="630063" cy="694944"/>
          </a:xfrm>
          <a:prstGeom prst="roundRect">
            <a:avLst>
              <a:gd name="adj" fmla="val 26087"/>
            </a:avLst>
          </a:prstGeom>
          <a:solidFill>
            <a:srgbClr val="7C6545"/>
          </a:solidFill>
          <a:ln w="12700">
            <a:solidFill>
              <a:srgbClr val="7C6545"/>
            </a:solidFill>
            <a:prstDash val="solid"/>
          </a:ln>
        </p:spPr>
        <p:txBody>
          <a:bodyPr/>
          <a:lstStyle/>
          <a:p>
            <a:endParaRPr lang="pt-BR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4120895" y="1511808"/>
            <a:ext cx="63006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67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R8</a:t>
            </a:r>
            <a:endParaRPr lang="en-US" sz="12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926335" y="1511808"/>
            <a:ext cx="630063" cy="694944"/>
          </a:xfrm>
          <a:prstGeom prst="roundRect">
            <a:avLst>
              <a:gd name="adj" fmla="val 26087"/>
            </a:avLst>
          </a:prstGeom>
          <a:solidFill>
            <a:srgbClr val="7C6545"/>
          </a:solidFill>
          <a:ln w="12700">
            <a:solidFill>
              <a:srgbClr val="7C6545"/>
            </a:solidFill>
            <a:prstDash val="solid"/>
          </a:ln>
        </p:spPr>
        <p:txBody>
          <a:bodyPr/>
          <a:lstStyle/>
          <a:p>
            <a:endParaRPr lang="pt-BR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1926335" y="1511808"/>
            <a:ext cx="63006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67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R7</a:t>
            </a:r>
            <a:endParaRPr lang="en-US" sz="12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632703" y="3096768"/>
            <a:ext cx="630063" cy="694944"/>
          </a:xfrm>
          <a:prstGeom prst="roundRect">
            <a:avLst>
              <a:gd name="adj" fmla="val 26087"/>
            </a:avLst>
          </a:prstGeom>
          <a:solidFill>
            <a:srgbClr val="7C6545"/>
          </a:solidFill>
          <a:ln w="12700">
            <a:solidFill>
              <a:srgbClr val="7C6545"/>
            </a:solidFill>
            <a:prstDash val="solid"/>
          </a:ln>
        </p:spPr>
        <p:txBody>
          <a:bodyPr/>
          <a:lstStyle/>
          <a:p>
            <a:endParaRPr lang="pt-BR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5632703" y="3096768"/>
            <a:ext cx="63006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67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R2</a:t>
            </a:r>
            <a:endParaRPr lang="en-US" sz="12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438143" y="3096768"/>
            <a:ext cx="630063" cy="694944"/>
          </a:xfrm>
          <a:prstGeom prst="roundRect">
            <a:avLst>
              <a:gd name="adj" fmla="val 26087"/>
            </a:avLst>
          </a:prstGeom>
          <a:solidFill>
            <a:srgbClr val="7C6545"/>
          </a:solidFill>
          <a:ln w="12700">
            <a:solidFill>
              <a:srgbClr val="7C6545"/>
            </a:solidFill>
            <a:prstDash val="solid"/>
          </a:ln>
        </p:spPr>
        <p:txBody>
          <a:bodyPr/>
          <a:lstStyle/>
          <a:p>
            <a:endParaRPr lang="pt-BR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3438143" y="3096768"/>
            <a:ext cx="63006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67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R5</a:t>
            </a:r>
            <a:endParaRPr lang="en-US" sz="12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120895" y="3096768"/>
            <a:ext cx="630063" cy="694944"/>
          </a:xfrm>
          <a:prstGeom prst="roundRect">
            <a:avLst>
              <a:gd name="adj" fmla="val 26087"/>
            </a:avLst>
          </a:prstGeom>
          <a:solidFill>
            <a:srgbClr val="7C6545"/>
          </a:solidFill>
          <a:ln w="12700">
            <a:solidFill>
              <a:srgbClr val="7C6545"/>
            </a:solidFill>
            <a:prstDash val="solid"/>
          </a:ln>
        </p:spPr>
        <p:txBody>
          <a:bodyPr/>
          <a:lstStyle/>
          <a:p>
            <a:endParaRPr lang="pt-BR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4120895" y="3096768"/>
            <a:ext cx="63006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67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R6</a:t>
            </a:r>
            <a:endParaRPr lang="en-US" sz="12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3" name="Agrupar 62">
            <a:extLst>
              <a:ext uri="{FF2B5EF4-FFF2-40B4-BE49-F238E27FC236}">
                <a16:creationId xmlns:a16="http://schemas.microsoft.com/office/drawing/2014/main" id="{36E29FC3-E087-FE41-CE4A-F595870F2CA6}"/>
              </a:ext>
            </a:extLst>
          </p:cNvPr>
          <p:cNvGrpSpPr/>
          <p:nvPr/>
        </p:nvGrpSpPr>
        <p:grpSpPr>
          <a:xfrm>
            <a:off x="7138416" y="1207008"/>
            <a:ext cx="4669536" cy="5169408"/>
            <a:chOff x="5394960" y="1097280"/>
            <a:chExt cx="3502152" cy="3877056"/>
          </a:xfrm>
        </p:grpSpPr>
        <p:sp>
          <p:nvSpPr>
            <p:cNvPr id="31" name="Shape 29"/>
            <p:cNvSpPr/>
            <p:nvPr/>
          </p:nvSpPr>
          <p:spPr>
            <a:xfrm>
              <a:off x="5394960" y="1097280"/>
              <a:ext cx="301752" cy="301752"/>
            </a:xfrm>
            <a:prstGeom prst="roundRect">
              <a:avLst>
                <a:gd name="adj" fmla="val 30303"/>
              </a:avLst>
            </a:prstGeom>
            <a:solidFill>
              <a:srgbClr val="7C6545"/>
            </a:solidFill>
            <a:ln w="12700">
              <a:solidFill>
                <a:srgbClr val="7C6545"/>
              </a:solidFill>
              <a:prstDash val="solid"/>
            </a:ln>
          </p:spPr>
          <p:txBody>
            <a:bodyPr/>
            <a:lstStyle/>
            <a:p>
              <a:endParaRPr lang="pt-BR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Text 30"/>
            <p:cNvSpPr txBox="1"/>
            <p:nvPr/>
          </p:nvSpPr>
          <p:spPr>
            <a:xfrm>
              <a:off x="5394960" y="1097280"/>
              <a:ext cx="301752" cy="3017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R1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Text 31"/>
            <p:cNvSpPr txBox="1"/>
            <p:nvPr/>
          </p:nvSpPr>
          <p:spPr>
            <a:xfrm>
              <a:off x="5788152" y="1097280"/>
              <a:ext cx="31089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333" b="1" dirty="0">
                  <a:solidFill>
                    <a:srgbClr val="2C1E0F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Baixa adesão de professores</a:t>
              </a:r>
              <a:endParaRPr lang="en-US" sz="1333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Text 32"/>
            <p:cNvSpPr txBox="1"/>
            <p:nvPr/>
          </p:nvSpPr>
          <p:spPr>
            <a:xfrm>
              <a:off x="5788152" y="1335024"/>
              <a:ext cx="31089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1200" i="1" dirty="0">
                  <a:solidFill>
                    <a:srgbClr val="8C7A5E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Alta prob. · Alto impacto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Shape 33"/>
            <p:cNvSpPr/>
            <p:nvPr/>
          </p:nvSpPr>
          <p:spPr>
            <a:xfrm>
              <a:off x="5394960" y="1591056"/>
              <a:ext cx="301752" cy="301752"/>
            </a:xfrm>
            <a:prstGeom prst="roundRect">
              <a:avLst>
                <a:gd name="adj" fmla="val 30303"/>
              </a:avLst>
            </a:prstGeom>
            <a:solidFill>
              <a:srgbClr val="7C6545"/>
            </a:solidFill>
            <a:ln w="12700">
              <a:solidFill>
                <a:srgbClr val="7C6545"/>
              </a:solidFill>
              <a:prstDash val="solid"/>
            </a:ln>
          </p:spPr>
          <p:txBody>
            <a:bodyPr/>
            <a:lstStyle/>
            <a:p>
              <a:endParaRPr lang="pt-BR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Text 34"/>
            <p:cNvSpPr txBox="1"/>
            <p:nvPr/>
          </p:nvSpPr>
          <p:spPr>
            <a:xfrm>
              <a:off x="5394960" y="1591056"/>
              <a:ext cx="301752" cy="3017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R2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Text 35"/>
            <p:cNvSpPr txBox="1"/>
            <p:nvPr/>
          </p:nvSpPr>
          <p:spPr>
            <a:xfrm>
              <a:off x="5788152" y="1591056"/>
              <a:ext cx="31089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333" b="1" dirty="0">
                  <a:solidFill>
                    <a:srgbClr val="2C1E0F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Pirataria de conteúdo</a:t>
              </a:r>
              <a:endParaRPr lang="en-US" sz="1333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Text 36"/>
            <p:cNvSpPr txBox="1"/>
            <p:nvPr/>
          </p:nvSpPr>
          <p:spPr>
            <a:xfrm>
              <a:off x="5788152" y="1828800"/>
              <a:ext cx="31089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1200" i="1" dirty="0">
                  <a:solidFill>
                    <a:srgbClr val="8C7A5E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Alta prob. · Médio impacto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Shape 37"/>
            <p:cNvSpPr/>
            <p:nvPr/>
          </p:nvSpPr>
          <p:spPr>
            <a:xfrm>
              <a:off x="5394960" y="2084832"/>
              <a:ext cx="301752" cy="301752"/>
            </a:xfrm>
            <a:prstGeom prst="roundRect">
              <a:avLst>
                <a:gd name="adj" fmla="val 30303"/>
              </a:avLst>
            </a:prstGeom>
            <a:solidFill>
              <a:srgbClr val="7C6545"/>
            </a:solidFill>
            <a:ln w="12700">
              <a:solidFill>
                <a:srgbClr val="7C6545"/>
              </a:solidFill>
              <a:prstDash val="solid"/>
            </a:ln>
          </p:spPr>
          <p:txBody>
            <a:bodyPr/>
            <a:lstStyle/>
            <a:p>
              <a:endParaRPr lang="pt-BR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Text 38"/>
            <p:cNvSpPr txBox="1"/>
            <p:nvPr/>
          </p:nvSpPr>
          <p:spPr>
            <a:xfrm>
              <a:off x="5394960" y="2084832"/>
              <a:ext cx="301752" cy="3017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R3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Text 39"/>
            <p:cNvSpPr txBox="1"/>
            <p:nvPr/>
          </p:nvSpPr>
          <p:spPr>
            <a:xfrm>
              <a:off x="5788152" y="2084832"/>
              <a:ext cx="31089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333" b="1" dirty="0">
                  <a:solidFill>
                    <a:srgbClr val="2C1E0F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Violação de direitos autorais</a:t>
              </a:r>
              <a:endParaRPr lang="en-US" sz="1333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Text 40"/>
            <p:cNvSpPr txBox="1"/>
            <p:nvPr/>
          </p:nvSpPr>
          <p:spPr>
            <a:xfrm>
              <a:off x="5788152" y="2322576"/>
              <a:ext cx="31089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1200" i="1" dirty="0">
                  <a:solidFill>
                    <a:srgbClr val="8C7A5E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Média prob. · Alto impacto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Shape 41"/>
            <p:cNvSpPr/>
            <p:nvPr/>
          </p:nvSpPr>
          <p:spPr>
            <a:xfrm>
              <a:off x="5394960" y="2578608"/>
              <a:ext cx="301752" cy="301752"/>
            </a:xfrm>
            <a:prstGeom prst="roundRect">
              <a:avLst>
                <a:gd name="adj" fmla="val 30303"/>
              </a:avLst>
            </a:prstGeom>
            <a:solidFill>
              <a:srgbClr val="7C6545"/>
            </a:solidFill>
            <a:ln w="12700">
              <a:solidFill>
                <a:srgbClr val="7C6545"/>
              </a:solidFill>
              <a:prstDash val="solid"/>
            </a:ln>
          </p:spPr>
          <p:txBody>
            <a:bodyPr/>
            <a:lstStyle/>
            <a:p>
              <a:endParaRPr lang="pt-BR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Text 42"/>
            <p:cNvSpPr txBox="1"/>
            <p:nvPr/>
          </p:nvSpPr>
          <p:spPr>
            <a:xfrm>
              <a:off x="5394960" y="2578608"/>
              <a:ext cx="301752" cy="3017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R4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Text 43"/>
            <p:cNvSpPr txBox="1"/>
            <p:nvPr/>
          </p:nvSpPr>
          <p:spPr>
            <a:xfrm>
              <a:off x="5788152" y="2578608"/>
              <a:ext cx="31089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333" b="1" dirty="0">
                  <a:solidFill>
                    <a:srgbClr val="2C1E0F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Concorrência com plataformas</a:t>
              </a:r>
              <a:endParaRPr lang="en-US" sz="1333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Text 44"/>
            <p:cNvSpPr txBox="1"/>
            <p:nvPr/>
          </p:nvSpPr>
          <p:spPr>
            <a:xfrm>
              <a:off x="5788152" y="2816352"/>
              <a:ext cx="31089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1200" i="1" dirty="0">
                  <a:solidFill>
                    <a:srgbClr val="8C7A5E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Alta prob. · Alto impacto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Shape 45"/>
            <p:cNvSpPr/>
            <p:nvPr/>
          </p:nvSpPr>
          <p:spPr>
            <a:xfrm>
              <a:off x="5394960" y="3072384"/>
              <a:ext cx="301752" cy="301752"/>
            </a:xfrm>
            <a:prstGeom prst="roundRect">
              <a:avLst>
                <a:gd name="adj" fmla="val 30303"/>
              </a:avLst>
            </a:prstGeom>
            <a:solidFill>
              <a:srgbClr val="7C6545"/>
            </a:solidFill>
            <a:ln w="12700">
              <a:solidFill>
                <a:srgbClr val="7C6545"/>
              </a:solidFill>
              <a:prstDash val="solid"/>
            </a:ln>
          </p:spPr>
          <p:txBody>
            <a:bodyPr/>
            <a:lstStyle/>
            <a:p>
              <a:endParaRPr lang="pt-BR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Text 46"/>
            <p:cNvSpPr txBox="1"/>
            <p:nvPr/>
          </p:nvSpPr>
          <p:spPr>
            <a:xfrm>
              <a:off x="5394960" y="3072384"/>
              <a:ext cx="301752" cy="3017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R5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Text 47"/>
            <p:cNvSpPr txBox="1"/>
            <p:nvPr/>
          </p:nvSpPr>
          <p:spPr>
            <a:xfrm>
              <a:off x="5788152" y="3072384"/>
              <a:ext cx="31089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333" b="1" dirty="0">
                  <a:solidFill>
                    <a:srgbClr val="2C1E0F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Custos de infraestrutura subest.</a:t>
              </a:r>
              <a:endParaRPr lang="en-US" sz="1333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Text 48"/>
            <p:cNvSpPr txBox="1"/>
            <p:nvPr/>
          </p:nvSpPr>
          <p:spPr>
            <a:xfrm>
              <a:off x="5788152" y="3310128"/>
              <a:ext cx="31089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1200" i="1" dirty="0">
                  <a:solidFill>
                    <a:srgbClr val="8C7A5E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Média prob. · Médio impacto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Shape 49"/>
            <p:cNvSpPr/>
            <p:nvPr/>
          </p:nvSpPr>
          <p:spPr>
            <a:xfrm>
              <a:off x="5394960" y="3566160"/>
              <a:ext cx="301752" cy="301752"/>
            </a:xfrm>
            <a:prstGeom prst="roundRect">
              <a:avLst>
                <a:gd name="adj" fmla="val 30303"/>
              </a:avLst>
            </a:prstGeom>
            <a:solidFill>
              <a:srgbClr val="7C6545"/>
            </a:solidFill>
            <a:ln w="12700">
              <a:solidFill>
                <a:srgbClr val="7C6545"/>
              </a:solidFill>
              <a:prstDash val="solid"/>
            </a:ln>
          </p:spPr>
          <p:txBody>
            <a:bodyPr/>
            <a:lstStyle/>
            <a:p>
              <a:endParaRPr lang="pt-BR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Text 50"/>
            <p:cNvSpPr txBox="1"/>
            <p:nvPr/>
          </p:nvSpPr>
          <p:spPr>
            <a:xfrm>
              <a:off x="5394960" y="3566160"/>
              <a:ext cx="301752" cy="3017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R6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Text 51"/>
            <p:cNvSpPr txBox="1"/>
            <p:nvPr/>
          </p:nvSpPr>
          <p:spPr>
            <a:xfrm>
              <a:off x="5788152" y="3566160"/>
              <a:ext cx="31089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333" b="1" dirty="0">
                  <a:solidFill>
                    <a:srgbClr val="2C1E0F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Fraudes em pagamentos</a:t>
              </a:r>
              <a:endParaRPr lang="en-US" sz="1333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Text 52"/>
            <p:cNvSpPr txBox="1"/>
            <p:nvPr/>
          </p:nvSpPr>
          <p:spPr>
            <a:xfrm>
              <a:off x="5788152" y="3803904"/>
              <a:ext cx="31089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1200" i="1" dirty="0">
                  <a:solidFill>
                    <a:srgbClr val="8C7A5E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Média prob. · Médio impacto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Shape 53"/>
            <p:cNvSpPr/>
            <p:nvPr/>
          </p:nvSpPr>
          <p:spPr>
            <a:xfrm>
              <a:off x="5394960" y="4059936"/>
              <a:ext cx="301752" cy="301752"/>
            </a:xfrm>
            <a:prstGeom prst="roundRect">
              <a:avLst>
                <a:gd name="adj" fmla="val 30303"/>
              </a:avLst>
            </a:prstGeom>
            <a:solidFill>
              <a:srgbClr val="7C6545"/>
            </a:solidFill>
            <a:ln w="12700">
              <a:solidFill>
                <a:srgbClr val="7C6545"/>
              </a:solidFill>
              <a:prstDash val="solid"/>
            </a:ln>
          </p:spPr>
          <p:txBody>
            <a:bodyPr/>
            <a:lstStyle/>
            <a:p>
              <a:endParaRPr lang="pt-BR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Text 54"/>
            <p:cNvSpPr txBox="1"/>
            <p:nvPr/>
          </p:nvSpPr>
          <p:spPr>
            <a:xfrm>
              <a:off x="5394960" y="4059936"/>
              <a:ext cx="301752" cy="3017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R7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Text 55"/>
            <p:cNvSpPr txBox="1"/>
            <p:nvPr/>
          </p:nvSpPr>
          <p:spPr>
            <a:xfrm>
              <a:off x="5788152" y="4059936"/>
              <a:ext cx="31089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333" b="1" dirty="0">
                  <a:solidFill>
                    <a:srgbClr val="2C1E0F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Violação da LGPD</a:t>
              </a:r>
              <a:endParaRPr lang="en-US" sz="1333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Text 56"/>
            <p:cNvSpPr txBox="1"/>
            <p:nvPr/>
          </p:nvSpPr>
          <p:spPr>
            <a:xfrm>
              <a:off x="5788152" y="4297680"/>
              <a:ext cx="31089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1200" i="1" dirty="0">
                  <a:solidFill>
                    <a:srgbClr val="8C7A5E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Baixa prob. · Alto impacto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Shape 57"/>
            <p:cNvSpPr/>
            <p:nvPr/>
          </p:nvSpPr>
          <p:spPr>
            <a:xfrm>
              <a:off x="5394960" y="4553712"/>
              <a:ext cx="301752" cy="301752"/>
            </a:xfrm>
            <a:prstGeom prst="roundRect">
              <a:avLst>
                <a:gd name="adj" fmla="val 30303"/>
              </a:avLst>
            </a:prstGeom>
            <a:solidFill>
              <a:srgbClr val="7C6545"/>
            </a:solidFill>
            <a:ln w="12700">
              <a:solidFill>
                <a:srgbClr val="7C6545"/>
              </a:solidFill>
              <a:prstDash val="solid"/>
            </a:ln>
          </p:spPr>
          <p:txBody>
            <a:bodyPr/>
            <a:lstStyle/>
            <a:p>
              <a:endParaRPr lang="pt-BR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Text 58"/>
            <p:cNvSpPr txBox="1"/>
            <p:nvPr/>
          </p:nvSpPr>
          <p:spPr>
            <a:xfrm>
              <a:off x="5394960" y="4553712"/>
              <a:ext cx="301752" cy="3017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R8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Text 59"/>
            <p:cNvSpPr txBox="1"/>
            <p:nvPr/>
          </p:nvSpPr>
          <p:spPr>
            <a:xfrm>
              <a:off x="5788152" y="4553712"/>
              <a:ext cx="31089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333" b="1" dirty="0">
                  <a:solidFill>
                    <a:srgbClr val="2C1E0F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Conteúdo de baixa qualidade</a:t>
              </a:r>
              <a:endParaRPr lang="en-US" sz="1333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Text 60"/>
            <p:cNvSpPr txBox="1"/>
            <p:nvPr/>
          </p:nvSpPr>
          <p:spPr>
            <a:xfrm>
              <a:off x="5788152" y="4791456"/>
              <a:ext cx="31089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1200" i="1" dirty="0">
                  <a:solidFill>
                    <a:srgbClr val="8C7A5E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Média prob. · Alto impacto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120</Words>
  <Application>Microsoft Macintosh PowerPoint</Application>
  <PresentationFormat>Widescreen</PresentationFormat>
  <Paragraphs>37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Beatriz Toledano</dc:creator>
  <cp:lastModifiedBy>Beatriz Toledano</cp:lastModifiedBy>
  <cp:revision>1</cp:revision>
  <dcterms:created xsi:type="dcterms:W3CDTF">2026-09-11T01:43:30Z</dcterms:created>
  <dcterms:modified xsi:type="dcterms:W3CDTF">2026-09-11T01:44:33Z</dcterms:modified>
</cp:coreProperties>
</file>